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4" Type="http://schemas.openxmlformats.org/officeDocument/2006/relationships/presProps" Target="presProps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B2A5B"/>
                </a:solidFill>
              </a:rPr>
              <a:t>Held-out accuracy by site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Deployed accuracy %</c:v>
                </c:pt>
              </c:strCache>
            </c:strRef>
          </c:tx>
          <c:spPr>
            <a:solidFill>
              <a:srgbClr val="0FA3C7"/>
            </a:solidFill>
          </c:spPr>
          <c:cat>
            <c:strRef>
              <c:f>Sheet1!$A$2:$A$5</c:f>
              <c:strCache>
                <c:ptCount val="4"/>
                <c:pt idx="0">
                  <c:v>Plant A (0 HP)</c:v>
                </c:pt>
                <c:pt idx="1">
                  <c:v>Plant B (1 HP)</c:v>
                </c:pt>
                <c:pt idx="2">
                  <c:v>Plant C (2 HP)</c:v>
                </c:pt>
                <c:pt idx="3">
                  <c:v>Plant D (3 HP)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53.81</c:v>
                </c:pt>
                <c:pt idx="1">
                  <c:v>69.49</c:v>
                </c:pt>
                <c:pt idx="2">
                  <c:v>61.02</c:v>
                </c:pt>
                <c:pt idx="3">
                  <c:v>57.2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50% floor (always OuterRace)</c:v>
                </c:pt>
              </c:strCache>
            </c:strRef>
          </c:tx>
          <c:spPr>
            <a:solidFill>
              <a:srgbClr val="9AA7B3"/>
            </a:solidFill>
          </c:spPr>
          <c:cat>
            <c:strRef>
              <c:f>Sheet1!$A$2:$A$5</c:f>
              <c:strCache>
                <c:ptCount val="4"/>
                <c:pt idx="0">
                  <c:v>Plant A (0 HP)</c:v>
                </c:pt>
                <c:pt idx="1">
                  <c:v>Plant B (1 HP)</c:v>
                </c:pt>
                <c:pt idx="2">
                  <c:v>Plant C (2 HP)</c:v>
                </c:pt>
                <c:pt idx="3">
                  <c:v>Plant D (3 HP)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B2A5B"/>
                </a:solidFill>
              </a:rPr>
              <a:t>Mean accuracy: local vs federated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FA3C7"/>
            </a:solidFill>
          </c:spPr>
          <c:dPt>
            <c:idx val="1"/>
            <c:spPr>
              <a:solidFill>
                <a:srgbClr val="F2A93B"/>
              </a:solidFill>
            </c:spPr>
          </c:dPt>
          <c:cat>
            <c:strRef>
              <c:f>Sheet1!$A$2:$A$3</c:f>
              <c:strCache>
                <c:ptCount val="2"/>
                <c:pt idx="0">
                  <c:v>Local baseline (mean)</c:v>
                </c:pt>
                <c:pt idx="1">
                  <c:v>FedProx (mean)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60.05</c:v>
                </c:pt>
                <c:pt idx="1">
                  <c:v>42.86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microsoft.com/office/2007/relationships/hdphoto" Target="../media/hdphoto2.wdp"/><Relationship Id="rId7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"/>
          <p:cNvPicPr/>
          <p:nvPr/>
        </p:nvPicPr>
        <p:blipFill>
          <a:blip r:embed="rId2"/>
          <a:stretch/>
        </p:blipFill>
        <p:spPr>
          <a:xfrm>
            <a:off x="0" y="5337720"/>
            <a:ext cx="1219176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6"/>
          <p:cNvSpPr/>
          <p:nvPr/>
        </p:nvSpPr>
        <p:spPr>
          <a:xfrm>
            <a:off x="0" y="0"/>
            <a:ext cx="12191760" cy="364680"/>
          </a:xfrm>
          <a:prstGeom prst="rect">
            <a:avLst/>
          </a:prstGeom>
          <a:gradFill rotWithShape="0"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endParaRPr b="1" i="1" lang="en-US" sz="2000" strike="noStrike" u="none">
              <a:solidFill>
                <a:schemeClr val="lt1">
                  <a:lumMod val="75000"/>
                </a:schemeClr>
              </a:solidFill>
              <a:uFillTx/>
              <a:latin typeface="Calibri"/>
            </a:endParaRPr>
          </a:p>
        </p:txBody>
      </p:sp>
      <p:pic>
        <p:nvPicPr>
          <p:cNvPr id="2" name="Picture 4" descr="LTIMindtree logo in transparent PNG and vectorized SVG formats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545480" y="6562440"/>
            <a:ext cx="1540800" cy="2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itle Placeholder 1"/>
          <p:cNvSpPr/>
          <p:nvPr/>
        </p:nvSpPr>
        <p:spPr>
          <a:xfrm>
            <a:off x="221400" y="88560"/>
            <a:ext cx="817632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en-US" sz="4400" strike="noStrike" u="none">
              <a:solidFill>
                <a:schemeClr val="dk1"/>
              </a:solidFill>
              <a:uFillTx/>
              <a:latin typeface="Calibri Light"/>
            </a:endParaRPr>
          </a:p>
        </p:txBody>
      </p:sp>
      <p:sp>
        <p:nvSpPr>
          <p:cNvPr id="4" name="Text Placeholder 2"/>
          <p:cNvSpPr/>
          <p:nvPr/>
        </p:nvSpPr>
        <p:spPr>
          <a:xfrm>
            <a:off x="391320" y="640080"/>
            <a:ext cx="112899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uFillTx/>
              <a:latin typeface="Calibri (Body)"/>
            </a:endParaRPr>
          </a:p>
        </p:txBody>
      </p:sp>
      <p:sp>
        <p:nvSpPr>
          <p:cNvPr id="5" name="Text Placeholder 2"/>
          <p:cNvSpPr/>
          <p:nvPr/>
        </p:nvSpPr>
        <p:spPr>
          <a:xfrm>
            <a:off x="158760" y="414000"/>
            <a:ext cx="10025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6" name="Picture 12" descr="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5480" y="6358320"/>
            <a:ext cx="9640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255960" y="1271160"/>
            <a:ext cx="10623960" cy="4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0070c0"/>
                </a:solidFill>
                <a:uFillTx/>
                <a:latin typeface="Frutiger 45 bold"/>
              </a:rPr>
              <a:t>Title Here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55960" y="629640"/>
            <a:ext cx="10623960" cy="4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rgbClr val="0070c0"/>
                </a:solidFill>
                <a:uFillTx/>
                <a:latin typeface="Frutiger 45 bold"/>
              </a:rPr>
              <a:t>Title Here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hdphoto3.wdp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hdphoto3.wdp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5"/>
          <p:cNvSpPr/>
          <p:nvPr/>
        </p:nvSpPr>
        <p:spPr>
          <a:xfrm>
            <a:off x="-31320" y="29880"/>
            <a:ext cx="12254040" cy="6868080"/>
          </a:xfrm>
          <a:prstGeom prst="rect">
            <a:avLst/>
          </a:prstGeom>
          <a:gradFill rotWithShape="0"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Frutiger LT Pro 45 Light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2289600" y="17640"/>
            <a:ext cx="6909840" cy="105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Frutiger 45 bold"/>
              </a:rPr>
              <a:t>M.Tech/MCA Program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lt1"/>
                </a:solidFill>
                <a:uFillTx/>
                <a:latin typeface="Frutiger 45 bold"/>
              </a:rPr>
              <a:t>Advanced Industry Integrated Programs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2" name="Straight Connector 14"/>
          <p:cNvCxnSpPr/>
          <p:nvPr/>
        </p:nvCxnSpPr>
        <p:spPr>
          <a:xfrm>
            <a:off x="2977200" y="1119960"/>
            <a:ext cx="5866560" cy="36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13" name="Rectangle: Rounded Corners 15"/>
          <p:cNvSpPr/>
          <p:nvPr/>
        </p:nvSpPr>
        <p:spPr>
          <a:xfrm>
            <a:off x="4125960" y="1177560"/>
            <a:ext cx="3032640" cy="464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595959"/>
                </a:solidFill>
                <a:uFillTx/>
                <a:latin typeface="Frutiger 45 bold"/>
              </a:rPr>
              <a:t>Jointly offered by University and LTIMindTree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180360" y="1659960"/>
            <a:ext cx="1142784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Calibri"/>
              </a:rPr>
              <a:t>Review III  ·  Project 1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</a:rPr>
              <a:t>Groundwork: Source-Traceable Contract Intelligence using Retrieval-Augmented Generation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M.Tech Program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Team Member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DEBOTRI GHOSH — VIT Chennai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T-SERIES — T10001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5" name="Table 2"/>
          <p:cNvGraphicFramePr/>
          <p:nvPr/>
        </p:nvGraphicFramePr>
        <p:xfrm>
          <a:off x="-47160" y="5501160"/>
          <a:ext cx="12238920" cy="326484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6119280"/>
                <a:gridCol w="6119280"/>
              </a:tblGrid>
              <a:tr h="1527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Knowledge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                                                                     </a:t>
                      </a: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Implementation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184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Picture 7" descr=""/>
          <p:cNvPicPr/>
          <p:nvPr/>
        </p:nvPicPr>
        <p:blipFill>
          <a:blip r:embed="rId2"/>
          <a:stretch/>
        </p:blipFill>
        <p:spPr>
          <a:xfrm>
            <a:off x="9775440" y="5852520"/>
            <a:ext cx="1987200" cy="84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2" descr="LTIMindtree - Technology Consulting and Digital Solutions Company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5852520"/>
            <a:ext cx="3886200" cy="864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Ask a contract a question — get an answer you can trace to the clause</a:t>
            </a:r>
          </a:p>
        </p:txBody>
      </p:sp>
      <p:pic>
        <p:nvPicPr>
          <p:cNvPr id="23" name="Picture 22" descr="image6.jpeg"/>
          <p:cNvPicPr>
            <a:picLocks noChangeAspect="1"/>
          </p:cNvPicPr>
          <p:nvPr/>
        </p:nvPicPr>
        <p:blipFill>
          <a:blip r:embed="rId2"/>
          <a:srcRect t="11987" b="11987"/>
          <a:stretch>
            <a:fillRect/>
          </a:stretch>
        </p:blipFill>
        <p:spPr>
          <a:xfrm>
            <a:off x="502920" y="1783080"/>
            <a:ext cx="3611880" cy="1508760"/>
          </a:xfrm>
          <a:prstGeom prst="round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3337560"/>
            <a:ext cx="3611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Contracts hold large volumes of complex, unstructured text</a:t>
            </a:r>
          </a:p>
        </p:txBody>
      </p:sp>
      <p:pic>
        <p:nvPicPr>
          <p:cNvPr id="25" name="Picture 24" descr="image9.png"/>
          <p:cNvPicPr>
            <a:picLocks noChangeAspect="1"/>
          </p:cNvPicPr>
          <p:nvPr/>
        </p:nvPicPr>
        <p:blipFill>
          <a:blip r:embed="rId3"/>
          <a:srcRect t="28395" b="28395"/>
          <a:stretch>
            <a:fillRect/>
          </a:stretch>
        </p:blipFill>
        <p:spPr>
          <a:xfrm>
            <a:off x="4297680" y="1783080"/>
            <a:ext cx="3611880" cy="1508760"/>
          </a:xfrm>
          <a:prstGeom prst="round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7680" y="3337560"/>
            <a:ext cx="3611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Keyword search fails when question and contract word things differently</a:t>
            </a:r>
          </a:p>
        </p:txBody>
      </p:sp>
      <p:pic>
        <p:nvPicPr>
          <p:cNvPr id="27" name="Picture 26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053" y="1783080"/>
            <a:ext cx="2968653" cy="1508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92440" y="3337560"/>
            <a:ext cx="36118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Groundwork answers in natural language, grounded in retrieved clauses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1148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0624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>
                <a:solidFill>
                  <a:srgbClr val="0E7C99"/>
                </a:solidFill>
                <a:latin typeface="Calibri"/>
              </a:rPr>
              <a:t>510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4875580"/>
            <a:ext cx="2478024" cy="67299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real commercial contracts (CUAD v1)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1148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20624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>
                <a:solidFill>
                  <a:srgbClr val="0E7C99"/>
                </a:solidFill>
                <a:latin typeface="Calibri"/>
              </a:rPr>
              <a:t>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4875580"/>
            <a:ext cx="2478024" cy="67299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expert-annotated clause categories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148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20624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>
                <a:solidFill>
                  <a:srgbClr val="0E7C99"/>
                </a:solidFill>
                <a:latin typeface="Calibri"/>
              </a:rPr>
              <a:t>13,000+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875580"/>
            <a:ext cx="2478024" cy="67299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expert labels from lawyers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411480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420624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>
                <a:solidFill>
                  <a:srgbClr val="0E7C99"/>
                </a:solidFill>
                <a:latin typeface="Calibri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6568" y="4875580"/>
            <a:ext cx="2478024" cy="67299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answers traceable to source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Objectives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Eight objectives — all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37360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1901952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1764792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Build a contract intelligence system on real-world legal contracts (CUAD)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724912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2889504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752344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Normalise contracts and clauses into a relational 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12464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3877056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739896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Split long contracts into overlapping chunks and generate semantic embeddings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00016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4864608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27448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Store and retrieve embeddings with Qdrant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37360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09360" y="1901952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764792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Generate answers only from retrieved contract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724912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09360" y="2889504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752344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Show source traceability for every answer in the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712464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60" y="3877056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739896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Expose the system through a FastAPI backend and Streamlit frontend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700016"/>
            <a:ext cx="5486400" cy="877824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09360" y="4864608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727448"/>
            <a:ext cx="384048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Add secure login, multilingual Q&amp;A and containerised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Problem Statement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Finding the right clause is slow — and an unsourced answer cannot be trusted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A5B"/>
                </a:solidFill>
                <a:latin typeface="Calibri"/>
              </a:rPr>
              <a:t>Manual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Finding relevant clauses by hand is time-consuming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4728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A5B"/>
                </a:solidFill>
                <a:latin typeface="Calibri"/>
              </a:rPr>
              <a:t>Wording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Keyword search misses clauses phrased differently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8192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A5B"/>
                </a:solidFill>
                <a:latin typeface="Calibri"/>
              </a:rPr>
              <a:t>LLM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A model alone may answer from memory, not the contract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1656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A5B"/>
                </a:solidFill>
                <a:latin typeface="Calibri"/>
              </a:rPr>
              <a:t>No 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Users need to see exactly where an answer came from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383280"/>
            <a:ext cx="5486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E7C99"/>
                </a:solidFill>
                <a:latin typeface="Calibri"/>
              </a:rPr>
              <a:t>Design principle — retrieve first, then 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natural language, any of 8 languages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090672" y="4114800"/>
            <a:ext cx="237744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01568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top-k contract chunks by meaning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989320" y="4114800"/>
            <a:ext cx="237744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0216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LLM answers ONLY from the excerpts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887968" y="4114800"/>
            <a:ext cx="237744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98864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2016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6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answer + sources + scores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029200"/>
            <a:ext cx="11201400" cy="64008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Every answer traces to real contract text — not the model's memory.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Modules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Data to deployment — every module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1847088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Data engineering and 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14015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CUAD extraction, database,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724912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Windows-safe extraction, PostgreSQL schema (contracts, clauses), CSV + text loading, EDA charts and statistics.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34840" y="1874519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1847088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Ingestion and chunking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414015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Text to searchable chunks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724912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300-word chunks with 50-word overlap and metadata; PDF, DOCX and TXT uploads indexed the same way.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0" y="1874519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1847088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Embedding and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414015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Semantic vector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724912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all-MiniLM-L6-v2 (384-d) embeddings indexed in Qdrant; cosine similarity, top-k retrieval.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58768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3968496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RAG contract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535424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Grounded answer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46320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Strict prompt: answer only from excerpts, bullet points, bold key terms, supporting quotes.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3858768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40" y="3995928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3968496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API and user interface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535424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FastAPI + Streamlit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846320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/query, /upload, /translate, /health; dark UI with source cards, highlights and read-aloud.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858768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3995928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968496"/>
            <a:ext cx="2788920" cy="5120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Security, language,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535424"/>
            <a:ext cx="33375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1">
                <a:solidFill>
                  <a:srgbClr val="1B8A3A"/>
                </a:solidFill>
                <a:latin typeface="Calibri"/>
              </a:rPr>
              <a:t>Login, 8 languages, Docker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846320"/>
            <a:ext cx="333756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bcrypt + JWT login, auto-detect and translate, Docker Compose deployment.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18320" y="12801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 of 6  Completed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System Architecture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The frontend only ever talks to the backend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1945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94560"/>
            <a:ext cx="2286000" cy="1371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Streamlit frontend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login · ask · upload · sources · listen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21945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194560"/>
            <a:ext cx="2651760" cy="1371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auth · retrieve · prompt · translate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926080" y="2697480"/>
            <a:ext cx="274320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0" y="16459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 w="15875">
            <a:solidFill>
              <a:srgbClr val="0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1645920"/>
            <a:ext cx="2651760" cy="11430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PostgreSQL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contracts · clauses · users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172200" y="2029968"/>
            <a:ext cx="457200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66560" y="30175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 w="15875">
            <a:solidFill>
              <a:srgbClr val="0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017520"/>
            <a:ext cx="2651760" cy="11430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Qdrant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semantic vector index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172200" y="3401568"/>
            <a:ext cx="457200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66560" y="43891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 w="15875">
            <a:solidFill>
              <a:srgbClr val="0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2651760" cy="11430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LLM via Groq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gpt-oss-20b: answers and translation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172200" y="4773168"/>
            <a:ext cx="457200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4023360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69080"/>
            <a:ext cx="5212080" cy="1554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Why this separation matters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The UI could be redesigned, re-themed and extended repeatedly without touching retrieval or generation logic.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Methodology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What happens when you ask a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Authenticate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JWT bearer token checked; invalid or expired requests rejected.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27248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64991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74720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Detect and translate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langdetect finds the language; non-English questions translated to English.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89320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7064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36792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8855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Question becomes a 384-dimensional vector (all-MiniLM-L6-v2).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51392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89136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98864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Vector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Cosine similarity in Qdrant returns top-k chunks with file, index and score.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2648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Build prompt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Excerpts inserted with a strict answer-only-from-these instruction.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27248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64991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74720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6783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Generate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LLM returns a bulleted, bolded answer with a supporting quote per fact.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989320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27064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36792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8855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Translate 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Answer returned in the user's language when needed.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851392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89136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98864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Render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Sources split into sentences, quoted lines highlighted, Listen button added.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5623560"/>
            <a:ext cx="111556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A6B7B"/>
                </a:solidFill>
                <a:latin typeface="Calibri"/>
              </a:rPr>
              <a:t>Uploads:  </a:t>
            </a:r>
            <a:r>
              <a:rPr sz="1400" b="0" i="0">
                <a:solidFill>
                  <a:srgbClr val="5A6B7B"/>
                </a:solidFill>
                <a:latin typeface="Calibri"/>
              </a:rPr>
              <a:t>extract text (PDF / DOCX / TXT) → chunk → embed → index — queryable immediately alongside the CUAD contracts.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Approach / Algorithms / Tools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371600"/>
          <a:ext cx="11201400" cy="4462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6035040"/>
                <a:gridCol w="3337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 / Algorithm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Distilled transformer sentence embeddings, 384-d; 300-word chunks, 50-word overlap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all-MiniLM-L6-v2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Vector search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Cosine similarity, top-k retrieval with source metadata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Qdrant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Strictly grounded prompt; say so if the answer is not in the excerpts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gpt-oss-20b via Groq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Translation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Same LLM translates questions, answers and excerpts; 8 languages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Groq (OpenAI-compatible API)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Language detection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Character n-gram statistics with a Naive Bayes-style classifier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langdetect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Read-aloud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Browser-native speech synthesis; no extra service or cost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Web Speech API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Backend and data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REST API; relational schema for contracts, clauses, users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FastAPI, PostgreSQL, SQLAlchemy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5B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Containerised services with health checks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38"/>
                          </a:solidFill>
                          <a:latin typeface="Calibri"/>
                        </a:rPr>
                        <a:t>Docker Compose, Streamlit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System in Numbers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A complete, deployable contract-intelligence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874519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510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6627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CUAD contracts loaded into PostgreSQL and indexed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783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874519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384-d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6627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semantic vectors per chunk in Qdrant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7830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874519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300 / 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6627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words per chunk / overlap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6118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03320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4915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languages: EN, HI, BN, TA, TE, ES, FR, 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6118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703320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4915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protected endpoints: query, upload, translate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6118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703320"/>
            <a:ext cx="3429000" cy="8458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0E7C99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4491532"/>
            <a:ext cx="3392424" cy="77815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1E2A38"/>
                </a:solidFill>
                <a:latin typeface="Calibri"/>
              </a:rPr>
              <a:t>containers in the Docker Compose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7C99"/>
                </a:solidFill>
                <a:latin typeface="Calibri"/>
              </a:rPr>
              <a:t>Quality gate: if retrieved excerpts do not contain the answer, the system says so instead of guessing.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Answers and Languages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Every answer comes with its evidence — in your own language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63190" cy="21031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1783080"/>
            <a:ext cx="2663190" cy="73152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1920240"/>
            <a:ext cx="2443734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Grounded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441448"/>
            <a:ext cx="2443734" cy="1371599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Bulleted, key terms in bold, each factual bullet backed by a short supporting quote.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48990" y="1783080"/>
            <a:ext cx="2663190" cy="21031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48990" y="1783080"/>
            <a:ext cx="2663190" cy="73152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8718" y="1920240"/>
            <a:ext cx="2443734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Source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8718" y="2441448"/>
            <a:ext cx="2443734" cy="1371599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Filename, chunk index, similarity score and full chunk text for every source.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5060" y="1783080"/>
            <a:ext cx="2663190" cy="21031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5060" y="1783080"/>
            <a:ext cx="2663190" cy="73152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4788" y="1920240"/>
            <a:ext cx="2443734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Smart highlighting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4788" y="2441448"/>
            <a:ext cx="2443734" cy="1371599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Question words bolded; quoted sentences highlighted; original text one click away.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1130" y="1783080"/>
            <a:ext cx="2663190" cy="21031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41130" y="1783080"/>
            <a:ext cx="2663190" cy="73152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0858" y="1920240"/>
            <a:ext cx="2443734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Listen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0858" y="2441448"/>
            <a:ext cx="2443734" cy="1371599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Browser-native read-aloud, with an explicit message if no voice is installed.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11095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Hindi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19272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Bengali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27448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Tamil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35624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Telugu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Spanish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1976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French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60152" y="4160520"/>
            <a:ext cx="1298448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German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A6B7B"/>
                </a:solidFill>
                <a:latin typeface="Calibri"/>
              </a:rPr>
              <a:t>Pipeline: detect language (langdetect) → translate question to English → retrieve → grounded answer → translate back. If translation returns empty, the user sees a clear message and the original text is used.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Security and Deployment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371600"/>
          <a:ext cx="1120140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8239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was built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Passwords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bcrypt hashing — never logged, stored or returned in plaintext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JWT (HS256); backend refuses to start without a secret in the environment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Access control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/query, /upload and /translate need a Bearer token; /health stays public for the login screen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Login errors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Same message for wrong email or wrong password — no account enumeration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Containers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Docker Compose: postgres, qdrant, api (FastAPI) and frontend (Streamlit)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Start-up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api container bootstraps the database and migrations automatically and idempotently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Offline-safe model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Embedding model baked into the image; HF_HUB_OFFLINE=1 so no runtime download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Pluggable LLM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Groq today; local Ollama supported for fully offline operation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Conclusion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Built end to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Real CUAD data → PostgreSQL → chunks → embeddings → Qdrant → grounded LLM answers.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FastAPI backend, Streamlit frontend, four-container Docker Compose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E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All 6 modules and 8 objectives completed.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Every answer carries cited sources, scores and highlighted quotes.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Secure login, 8 languages and read-aloud built 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Retrieval first, generation second: the model reads the evidence, it does not recall from memory.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That one constraint makes answers traceable.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Future Work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From a working system to a measured, domain-tuned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194560"/>
            <a:ext cx="10424160" cy="64008"/>
          </a:xfrm>
          <a:prstGeom prst="roundRect">
            <a:avLst>
              <a:gd name="adj" fmla="val 50000"/>
            </a:avLst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5880" y="1993392"/>
            <a:ext cx="457200" cy="45720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Structured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Retrieval and answer quality scored on a representative set of test questions.</a:t>
            </a:r>
          </a:p>
        </p:txBody>
      </p:sp>
      <p:sp>
        <p:nvSpPr>
          <p:cNvPr id="29" name="Oval 28"/>
          <p:cNvSpPr/>
          <p:nvPr/>
        </p:nvSpPr>
        <p:spPr>
          <a:xfrm>
            <a:off x="3602736" y="1993392"/>
            <a:ext cx="457200" cy="45720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71216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Hybrid 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216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Add BM25 keyword matching to vector search for exact-term clauses.</a:t>
            </a:r>
          </a:p>
        </p:txBody>
      </p:sp>
      <p:sp>
        <p:nvSpPr>
          <p:cNvPr id="34" name="Oval 33"/>
          <p:cNvSpPr/>
          <p:nvPr/>
        </p:nvSpPr>
        <p:spPr>
          <a:xfrm>
            <a:off x="5879592" y="1993392"/>
            <a:ext cx="457200" cy="45720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6632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8072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THEN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Legal-domain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Try a legal-specific embedding model such as LEGAL-BERT.</a:t>
            </a:r>
          </a:p>
        </p:txBody>
      </p:sp>
      <p:sp>
        <p:nvSpPr>
          <p:cNvPr id="39" name="Oval 38"/>
          <p:cNvSpPr/>
          <p:nvPr/>
        </p:nvSpPr>
        <p:spPr>
          <a:xfrm>
            <a:off x="8156448" y="1993392"/>
            <a:ext cx="457200" cy="45720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33488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8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THEN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8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Contract 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Extend from Q&amp;A towards inference tasks, as in ContractNLI.</a:t>
            </a:r>
          </a:p>
        </p:txBody>
      </p:sp>
      <p:sp>
        <p:nvSpPr>
          <p:cNvPr id="44" name="Oval 43"/>
          <p:cNvSpPr/>
          <p:nvPr/>
        </p:nvSpPr>
        <p:spPr>
          <a:xfrm>
            <a:off x="10433304" y="1993392"/>
            <a:ext cx="457200" cy="457200"/>
          </a:xfrm>
          <a:prstGeom prst="ellipse">
            <a:avLst/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10344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1784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LATER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Scale 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Larger contract collections and a server-scale Qdrant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References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Groundwork — Contract Intelligence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1371600"/>
            <a:ext cx="5463540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1.  Hendrycks, D., Burns, C., Chen, A., &amp; Ball, S. (2021). CUAD: An expert-annotated NLP dataset for legal contract review. NeurIPS Datasets &amp; Benchmarks.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2.  Lewis, P., et al. (2020). Retrieval-augmented generation for knowledge-intensive NLP tasks. NeurIPS 33.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3.  Reimers, N., &amp; Gurevych, I. (2019). Sentence-BERT: Sentence embeddings using Siamese BERT-networks. EMNLP.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79" y="1371600"/>
            <a:ext cx="5463540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4.  Karpukhin, V., et al. (2020). Dense passage retrieval for open-domain question answering. EMNLP.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5.  Chalkidis, I., et al. (2020). LEGAL-BERT: The Muppets straight out of law school. Findings of EMNLP.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6.  Koreeda, Y., &amp; Manning, C. D. (2021). ContractNLI: A dataset for document-level natural language inference for contracts. Findings of EMNLP.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Dataset: The Atticus Project, CUAD v1 (510 contracts, 41 clause categories), CC BY 4.0 — https://www.atticusprojectai.org/cuad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5"/>
          <p:cNvSpPr/>
          <p:nvPr/>
        </p:nvSpPr>
        <p:spPr>
          <a:xfrm>
            <a:off x="-31320" y="29880"/>
            <a:ext cx="12254040" cy="6868080"/>
          </a:xfrm>
          <a:prstGeom prst="rect">
            <a:avLst/>
          </a:prstGeom>
          <a:gradFill rotWithShape="0"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Frutiger LT Pro 45 Light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2289600" y="17640"/>
            <a:ext cx="6909840" cy="105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Frutiger 45 bold"/>
              </a:rPr>
              <a:t>M.Tech/MCA Program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lt1"/>
                </a:solidFill>
                <a:uFillTx/>
                <a:latin typeface="Frutiger 45 bold"/>
              </a:rPr>
              <a:t>Advanced Industry Integrated Programs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2" name="Straight Connector 14"/>
          <p:cNvCxnSpPr/>
          <p:nvPr/>
        </p:nvCxnSpPr>
        <p:spPr>
          <a:xfrm>
            <a:off x="2977200" y="1119960"/>
            <a:ext cx="5866560" cy="36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13" name="Rectangle: Rounded Corners 15"/>
          <p:cNvSpPr/>
          <p:nvPr/>
        </p:nvSpPr>
        <p:spPr>
          <a:xfrm>
            <a:off x="4125960" y="1177560"/>
            <a:ext cx="3032640" cy="464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595959"/>
                </a:solidFill>
                <a:uFillTx/>
                <a:latin typeface="Frutiger 45 bold"/>
              </a:rPr>
              <a:t>Jointly offered by University and LTIMindTree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180360" y="1659960"/>
            <a:ext cx="1142784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Calibri"/>
              </a:rPr>
              <a:t>Review III  ·  Project 2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</a:rPr>
              <a:t>FleetMind: Federated Intelligent Predictive Maintenance for Bearing Fault Diagnosis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M.Tech Program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Team Member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DEBOTRI GHOSH — VIT Chennai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T-SERIES — T10001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5" name="Table 2"/>
          <p:cNvGraphicFramePr/>
          <p:nvPr/>
        </p:nvGraphicFramePr>
        <p:xfrm>
          <a:off x="-47160" y="5501160"/>
          <a:ext cx="12238920" cy="326484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6119280"/>
                <a:gridCol w="6119280"/>
              </a:tblGrid>
              <a:tr h="1527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Knowledge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                                                                     </a:t>
                      </a: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uFillTx/>
                          <a:latin typeface="Frutiger 45 bold"/>
                        </a:rPr>
                        <a:t>Implementation partner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184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Picture 7" descr=""/>
          <p:cNvPicPr/>
          <p:nvPr/>
        </p:nvPicPr>
        <p:blipFill>
          <a:blip r:embed="rId2"/>
          <a:stretch/>
        </p:blipFill>
        <p:spPr>
          <a:xfrm>
            <a:off x="9775440" y="5852520"/>
            <a:ext cx="1987200" cy="84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2" descr="LTIMindtree - Technology Consulting and Digital Solutions Company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5852520"/>
            <a:ext cx="3886200" cy="864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Detect bearing faults early — and turn each finding into a dispatched repair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1783080"/>
          <a:ext cx="11201400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389120"/>
                <a:gridCol w="443484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Maintenance style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2A5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Repair after the machine fails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Unplanned downtime, highest cost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2A5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Service at fixed intervals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Wasted visits; faults between visits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2A5B"/>
                          </a:solidFill>
                          <a:latin typeface="Calibri"/>
                        </a:rPr>
                        <a:t>Predictive — FleetMind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ML reads vibration signals and flags faults early, with evidence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E2A38"/>
                          </a:solidFill>
                          <a:latin typeface="Calibri"/>
                        </a:rPr>
                        <a:t>Humans decide; the system recommends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206240"/>
            <a:ext cx="2663190" cy="1371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97679"/>
            <a:ext cx="248031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0E7C99"/>
                </a:solidFill>
                <a:latin typeface="Calibri"/>
              </a:rPr>
              <a:t>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19472"/>
            <a:ext cx="2443734" cy="63093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real CWRU bearing recordings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48990" y="4206240"/>
            <a:ext cx="2663190" cy="1371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0430" y="4297679"/>
            <a:ext cx="248031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0E7C99"/>
                </a:solidFill>
                <a:latin typeface="Calibri"/>
              </a:rPr>
              <a:t>4,367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8718" y="4919472"/>
            <a:ext cx="2443734" cy="63093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signal windows of 2,048 samples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060" y="4206240"/>
            <a:ext cx="2663190" cy="1371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6500" y="4297679"/>
            <a:ext cx="248031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0E7C99"/>
                </a:solidFill>
                <a:latin typeface="Calibri"/>
              </a:rPr>
              <a:t>12 kHz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4788" y="4919472"/>
            <a:ext cx="2443734" cy="63093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drive-end accelerometer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1130" y="4206240"/>
            <a:ext cx="2663190" cy="13716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32570" y="4297679"/>
            <a:ext cx="248031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 i="0">
                <a:solidFill>
                  <a:srgbClr val="0E7C99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0858" y="4919472"/>
            <a:ext cx="2443734" cy="63093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manufacturing sites (motor loads 0–3 HP)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Objectives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1325880"/>
            <a:ext cx="11201400" cy="73152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325880"/>
            <a:ext cx="1092708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Primary: a privacy-aware predictive-maintenance framework that learns bearing-fault patterns across sites and turns predictions into actionable maintenance insight.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24028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2340864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58568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Build a real-world vibration-data pipeline from the CWRU Bearing Dataset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081528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" y="3182112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99816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Perform EDA and fault-distribution analysis before 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22776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4023360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941063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Develop local bearing-fault classifiers for individual sites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764024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2648" y="4864608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782312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Address rare-fault imbalance with generative augmentation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24028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81928" y="2340864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258568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Aggregate knowledge with Federated Learning, not raw signals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081528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81928" y="3182112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099816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Add a reasoning layer for diagnosis, risk and maintenance recommendation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922776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81928" y="4023360"/>
            <a:ext cx="548640" cy="54864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41063"/>
            <a:ext cx="4617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Serve results through a queryable API and role-based dashboard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764024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 w="15875">
            <a:solidFill>
              <a:srgbClr val="0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764024"/>
            <a:ext cx="53949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E7C99"/>
                </a:solidFill>
                <a:latin typeface="Calibri"/>
              </a:rPr>
              <a:t>7 of 7 specific objectives completed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Problem Statement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Faults need catching early — without moving raw data or trusting a black 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Late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Reactive and fixed-interval maintenance miss or over-service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4728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Different 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Operating conditions differ, so data is non-IID across sites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8192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Data 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Raw vibration signals should not leave the site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178308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16568" y="1874519"/>
            <a:ext cx="384048" cy="384048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1874519"/>
            <a:ext cx="2103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Opaque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2377440"/>
            <a:ext cx="2514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 fault label alone does not justify a repair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383280"/>
            <a:ext cx="5486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7C99"/>
                </a:solidFill>
                <a:latin typeface="Calibri"/>
              </a:rPr>
              <a:t>FleetMind 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vibration windows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063239" y="4114800"/>
            <a:ext cx="246888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01568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1D CNN per site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961888" y="4114800"/>
            <a:ext cx="246888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0216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expected cost + SPRT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860536" y="4114800"/>
            <a:ext cx="246888" cy="36576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98864" y="3749039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2016" y="3794760"/>
            <a:ext cx="2368296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ACT + EXPLAIN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6" y="4178808"/>
            <a:ext cx="2368296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service request + evidence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029200"/>
            <a:ext cx="11201400" cy="64008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It recommends actions; humans decide.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Modules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18320" y="74980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 of 8  Completed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1325880"/>
          <a:ext cx="11201400" cy="4462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2743200"/>
                <a:gridCol w="66294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activities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Data engineering and EDA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CWRU ingestion, manifest, 2,048-sample windows, PostgreSQL, EDA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Local fault classifier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Per-site 1D CNN over log-FFT magnitude; experiment-level split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Conditional GAN for rare fault classes, with baseline comparison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Federated learning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Flower FedAvg / FedProx across four sites (non-IID study)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Decision layer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Expected-cost policy and repeated SPRT; LangGraph agent chain kept as baseline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Product and replay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11 API routers, equipment status, service requests, work orders, replay engine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Evidence and LLM narrative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Signal, spectrum, defect frequency, ground truth; tool-grounded Groq narrative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Auth and dashboard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JWT + bcrypt, three roles, Next.js live board and Frequency Lab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DDF3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System Architecture: Runtime Workflow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One code path from arriving window to dispatched technician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CWRU recordings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40487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64 .mat files → 4,367 windows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27248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64991" y="17830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74720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Replay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40487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releases windows as if streaming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89320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7064" y="17830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36792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8855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CNN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40487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class + probabilities per window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51392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89136" y="17830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98864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Decision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40487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expected-cost policy + SPRT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337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2648" y="344728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344728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Equipment sync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395935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status → maintenance; request filed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27248" y="4050791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64991" y="3337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74720" y="344728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6783" y="344728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Operator dispatch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395935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technician work order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989320" y="4050791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27064" y="3337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36792" y="344728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8855" y="344728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Evidence panel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395935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signal, spectrum, ground truth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851392" y="4050791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89136" y="33375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98864" y="344728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344728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LLM narrative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3959352"/>
            <a:ext cx="2395728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prose; numbers from tools only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4846320"/>
            <a:ext cx="2663190" cy="9144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937759"/>
            <a:ext cx="248031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0E7C99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5321808"/>
            <a:ext cx="2443734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database tables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48990" y="4846320"/>
            <a:ext cx="2663190" cy="9144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0430" y="4937759"/>
            <a:ext cx="248031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0E7C99"/>
                </a:solidFill>
                <a:latin typeface="Calibri"/>
              </a:rP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58718" y="5321808"/>
            <a:ext cx="2443734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API routers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5060" y="4846320"/>
            <a:ext cx="2663190" cy="9144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86500" y="4937759"/>
            <a:ext cx="248031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0E7C99"/>
                </a:solidFill>
                <a:latin typeface="Calibr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4788" y="5321808"/>
            <a:ext cx="2443734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Alembic migrations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41130" y="4846320"/>
            <a:ext cx="2663190" cy="91440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32570" y="4937759"/>
            <a:ext cx="248031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0E7C99"/>
                </a:solidFill>
                <a:latin typeface="Calibri"/>
              </a:rPr>
              <a:t>257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50858" y="5321808"/>
            <a:ext cx="2443734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automated tests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Methodology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From raw vibration to a fault class, without leakage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2,048 samples at 12 kHz ≈ 0.17 s, about 5 shaft turns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27248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64991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74720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FFT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rFFT → 1,025 bins of 5.86 Hz; keep first 512 (0–3 kHz)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89320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7064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36792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8855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Log + normalise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log1p compresses dynamic range; z-score removes loudness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51392" y="249631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89136" y="178308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98864" y="1892807"/>
            <a:ext cx="420624" cy="420624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1892807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1D CNN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40487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Conv 16→32→64 + BatchNorm + ReLU, pooling, Linear → 4 classes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2648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Class weights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Inverse-frequency loss: OuterRace 37.8%, Normal 19.0%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27248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64991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74720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6783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Experiment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No window of a held-out recording appears in training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989320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27064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36792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8855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Decide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P(faulted) = 1 − P(Normal) priced by a cost matrix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851392" y="4416552"/>
            <a:ext cx="219456" cy="310896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89136" y="37033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98864" y="3813048"/>
            <a:ext cx="420624" cy="420624"/>
          </a:xfrm>
          <a:prstGeom prst="ellips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0928" y="3813048"/>
            <a:ext cx="192024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Flag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4325112"/>
            <a:ext cx="2395728" cy="1143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SPRT over consecutive windows crosses its boundary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Approach / Algorithms / Tools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371600"/>
          <a:ext cx="11201400" cy="4462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6126480"/>
                <a:gridCol w="3246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 / Algorithm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Manifest from filenames; fixed 2,048-sample windows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Python, PostgreSQL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Classifier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1D CNN on log-FFT magnitude; inverse-frequency class weights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Conditional GAN for under-represented fault classes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Federated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FedAvg and FedProx (mu = 0.1, 30 rounds) over four sites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Flower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Expected-cost policy; repeated SPRT (α = 0.01, β = 0.05)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Agents and narrative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Deterministic LangGraph chain; tool-grounded LLM with numeric check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LangGraph, Groq gpt-oss-120b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Role-scoped REST API, migrations, JWT + bcrypt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FastAPI, SQLAlchemy, Alembic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Live board, evidence panel, Frequency Lab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Next.js 14, TanStack Query, Recharts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 and Results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Deployed classifiers, measured on held-out recordings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1737360"/>
          <a:ext cx="52120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43600" y="1783080"/>
          <a:ext cx="5760720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188720"/>
                <a:gridCol w="1600200"/>
                <a:gridCol w="14173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Correct / held-out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Over floor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Plant 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53.81%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127 / 236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+3.81 pts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Plant B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69.49%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164 / 236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+19.49 pts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Plant 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61.02%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144 / 236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+11.02 pts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Plant 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57.20%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135 / 236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+7.20 pts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60.38%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570 / 944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+10.38 pts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43600" y="4937760"/>
            <a:ext cx="576072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5A6B7B"/>
                </a:solidFill>
                <a:latin typeface="Calibri"/>
              </a:rPr>
              <a:t>Three-class evaluation on an experiment-level split: the held-out set is OuterRace 118, Ball 59, InnerRace 59 at every site.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521208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Reproduce: python -m fleetmind.decision.report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Decision Layer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The classifier's probability now reaches the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737360"/>
            <a:ext cx="2663190" cy="1234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828800"/>
            <a:ext cx="2480310" cy="6172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E7C99"/>
                </a:solidFill>
                <a:latin typeface="Calibri"/>
              </a:rPr>
              <a:t>0 of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379268"/>
            <a:ext cx="2443734" cy="56784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faulted held-out recordings missed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8990" y="1737360"/>
            <a:ext cx="2663190" cy="1234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0430" y="1828800"/>
            <a:ext cx="2480310" cy="6172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E7C99"/>
                </a:solidFill>
                <a:latin typeface="Calibri"/>
              </a:rPr>
              <a:t>0 of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8718" y="2379268"/>
            <a:ext cx="2443734" cy="56784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cross-site false alarms (0 of 2,484 healthy windows flagged)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5060" y="1737360"/>
            <a:ext cx="2663190" cy="1234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6500" y="1828800"/>
            <a:ext cx="2480310" cy="6172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E7C99"/>
                </a:solidFill>
                <a:latin typeface="Calibri"/>
              </a:rPr>
              <a:t>≤ 0.107 / ≥ 0.843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4788" y="2379268"/>
            <a:ext cx="2443734" cy="56784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P(faulted) on any healthy / any faulted window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41130" y="1737360"/>
            <a:ext cx="2663190" cy="123444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2570" y="1828800"/>
            <a:ext cx="2480310" cy="6172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E7C99"/>
                </a:solidFill>
                <a:latin typeface="Calibri"/>
              </a:rPr>
              <a:t>4 of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0858" y="2379268"/>
            <a:ext cx="2443734" cy="56784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1E2A38"/>
                </a:solidFill>
                <a:latin typeface="Calibri"/>
              </a:rPr>
              <a:t>held-out demo machines flagged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02920" y="3154680"/>
          <a:ext cx="112014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3657600"/>
                <a:gridCol w="45262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Rule-based baseline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Expected-cost policy + SPRT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Reads classifier confidence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No — a 0.26 and a 0.9991 score identically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Yes — full probability distribution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Thresholds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Hand-set constants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Derived from an explicit cost matrix (monitor &lt; 0.025, inspect ≤ 0.9)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Missed / false alarms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0 of 16 / 0 of 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0 of 16 / 0 of 12 — ties the baseline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One isolated bad window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SPRT blocks a false flag at 3 of 4 sites (stress test)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Federated Learning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A measured, explained negative result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1737360"/>
          <a:ext cx="5212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943600" y="178308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28800"/>
            <a:ext cx="5486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What happened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194560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E2A38"/>
                </a:solidFill>
                <a:latin typeface="Calibri"/>
              </a:rPr>
              <a:t>FedProx (mu = 0.1, 30 rounds) became a majority-class predictor: OuterRace recall 1.0, every other class 0.0, at all four sites.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10896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154679"/>
            <a:ext cx="5486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Why it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520440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E2A38"/>
                </a:solidFill>
                <a:latin typeface="Calibri"/>
              </a:rPr>
              <a:t>Averaging across clients with different class distributions pulls the model to the majority class; 42.86% is simply OuterRace's share.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43484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4480559"/>
            <a:ext cx="5486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B2A5B"/>
                </a:solidFill>
                <a:latin typeface="Calibri"/>
              </a:rPr>
              <a:t>What it led 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846320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E2A38"/>
                </a:solidFill>
                <a:latin typeface="Calibri"/>
              </a:rPr>
              <a:t>Plain FedAvg oscillated round to round, so FedProx is the primary result; the failure mechanism is now identified.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Product, Access Control and Evidence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371600"/>
          <a:ext cx="4846320" cy="1874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32918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Sees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Own equipment and requests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Own site's equipment, queue, dispatches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Everything, including replay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3520440"/>
            <a:ext cx="4846320" cy="2194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Scope is read from the user row and applied before any query parameter — filters can only narrow results.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Out-of-scope rows return 404, not 403, so ids cannot be enumerated.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A test walks the app's own route table, so an unguarded router fails the suite.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280160"/>
            <a:ext cx="59436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Evidence on every AI-filed 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173736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0" y="1883664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5074920" cy="8412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Triggering signal and its spectrum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69748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52160" y="2843784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97480"/>
            <a:ext cx="5074920" cy="8412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Corroborating bearing defect frequency (BPFI / BPFO / BSF / FTF)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65760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0" y="3803904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5074920" cy="8412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Documented ground truth beside the independent prediction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61772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52160" y="4764024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17720"/>
            <a:ext cx="5074920" cy="8412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LLM narrative — every number comes from a deterministic tool, then a numeric check scans the text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Findings: What Measuring Revealed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Every correction made the evidence more honest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1783080"/>
          <a:ext cx="1120140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3566160"/>
                <a:gridCol w="40690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91440" marR="91440" marT="27432" marB="27432" anchor="ctr">
                    <a:solidFill>
                      <a:srgbClr val="0B2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Data leakage — windows split across train and test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~100% (inflated)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53.8–69.5% on held-out recordings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InnerRace unlearnable — pooling erased the repetition rate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100% misclassified at every site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Learnable with FFT-magnitude input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FedAvg unstable under class imbalance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Oscillating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FedProx stable; collapse explained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Saved weights were last epoch, not best epoch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62.7–72.5% quoted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Deployed checkpoints measured: 60.4% mean</a:t>
                      </a:r>
                    </a:p>
                  </a:txBody>
                  <a:tcPr marL="91440" marR="91440" marT="27432" marB="27432" anchor="ctr">
                    <a:solidFill>
                      <a:srgbClr val="EA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5B"/>
                          </a:solidFill>
                          <a:latin typeface="Calibri"/>
                        </a:rPr>
                        <a:t>In-sample agreement (91.44%) mistaken for accuracy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91.44% in-sample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A38"/>
                          </a:solidFill>
                          <a:latin typeface="Calibri"/>
                        </a:rPr>
                        <a:t>Quoted only as an integration check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E7C99"/>
                </a:solidFill>
                <a:latin typeface="Calibri"/>
              </a:rPr>
              <a:t>Three tests that could never fail were rewritten; one exposed an unauthenticated endpoint, which was then fixed.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Conclusion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Built end to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CWRU data → CNN → decision layer → equipment status → service request → dispatch.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Role-scoped API, live dashboard, 257 automated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E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53.8–69.5% held-out accuracy (mean 60.4%).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0 of 16 faults missed, 0 of 12 cross-site false alarms.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Federated negative result explained, not hidden.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13716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71600"/>
            <a:ext cx="33375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57400"/>
            <a:ext cx="3337560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Honest measurement beats headline accuracy.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2A38"/>
                </a:solidFill>
                <a:latin typeface="Calibri"/>
              </a:rPr>
              <a:t>Leakage, unsaved epochs and in-sample agreement were each caught and corrected.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Future Work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1">
                <a:solidFill>
                  <a:srgbClr val="0E7C99"/>
                </a:solidFill>
                <a:latin typeface="Calibri"/>
              </a:rPr>
              <a:t>From a validated platform to a field-ready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194560"/>
            <a:ext cx="10424160" cy="64008"/>
          </a:xfrm>
          <a:prstGeom prst="roundRect">
            <a:avLst>
              <a:gd name="adj" fmla="val 50000"/>
            </a:avLst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5880" y="1993392"/>
            <a:ext cx="457200" cy="45720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Three-way retrain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Train v2 checkpoints so a healthy machine is held out and false-alarm rate can be measured.</a:t>
            </a:r>
          </a:p>
        </p:txBody>
      </p:sp>
      <p:sp>
        <p:nvSpPr>
          <p:cNvPr id="29" name="Oval 28"/>
          <p:cNvSpPr/>
          <p:nvPr/>
        </p:nvSpPr>
        <p:spPr>
          <a:xfrm>
            <a:off x="3602736" y="1993392"/>
            <a:ext cx="457200" cy="457200"/>
          </a:xfrm>
          <a:prstGeom prst="ellipse">
            <a:avLst/>
          </a:prstGeom>
          <a:solidFill>
            <a:srgbClr val="3DA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71216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Healthy-machine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216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Report false alarms on held-out Normal recordings.</a:t>
            </a:r>
          </a:p>
        </p:txBody>
      </p:sp>
      <p:sp>
        <p:nvSpPr>
          <p:cNvPr id="34" name="Oval 33"/>
          <p:cNvSpPr/>
          <p:nvPr/>
        </p:nvSpPr>
        <p:spPr>
          <a:xfrm>
            <a:off x="5879592" y="1993392"/>
            <a:ext cx="457200" cy="45720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6632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8072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THEN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Frequency-domain GAN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Generate augmentation in the domain the classifier uses.</a:t>
            </a:r>
          </a:p>
        </p:txBody>
      </p:sp>
      <p:sp>
        <p:nvSpPr>
          <p:cNvPr id="39" name="Oval 38"/>
          <p:cNvSpPr/>
          <p:nvPr/>
        </p:nvSpPr>
        <p:spPr>
          <a:xfrm>
            <a:off x="8156448" y="1993392"/>
            <a:ext cx="457200" cy="45720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33488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8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THEN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8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Federated fix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Make aggregation robust to non-IID class distributions.</a:t>
            </a:r>
          </a:p>
        </p:txBody>
      </p:sp>
      <p:sp>
        <p:nvSpPr>
          <p:cNvPr id="44" name="Oval 43"/>
          <p:cNvSpPr/>
          <p:nvPr/>
        </p:nvSpPr>
        <p:spPr>
          <a:xfrm>
            <a:off x="10433304" y="1993392"/>
            <a:ext cx="457200" cy="457200"/>
          </a:xfrm>
          <a:prstGeom prst="ellipse">
            <a:avLst/>
          </a:prstGeom>
          <a:solidFill>
            <a:srgbClr val="9A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10344" y="265176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1784" y="2743200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E7C99"/>
                </a:solidFill>
                <a:latin typeface="Calibri"/>
              </a:rPr>
              <a:t>LATER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3063240"/>
            <a:ext cx="19202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B2A5B"/>
                </a:solidFill>
                <a:latin typeface="Calibri"/>
              </a:rPr>
              <a:t>Live telemetry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886200"/>
            <a:ext cx="1920240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Rebuild and verify the Docker image; replace replay with real sensors.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References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FleetMind — Federated Predictive Maintenance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1371600"/>
            <a:ext cx="5463540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1.  Smith, W. A., &amp; Randall, R. B. (2015). Rolling element bearing diagnostics using the Case Western Reserve University data. Mech. Syst. Signal Process., 64–65, 100–131.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2.  McMahan, B., et al. (2017). Communication-efficient learning of deep networks from decentralized data. AISTATS.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3.  Li, T., et al. (2020). Federated optimization in heterogeneous networks (FedProx). MLSys.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4.  Wald, A. (1945). Sequential tests of statistical hypotheses. Ann. Math. Statist., 16(2), 117–186.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5.  Rolling Bearing Fault Diagnosis via Meta-BOHB Optimized CNN–Transformer Model and Time-Frequency Domain Analysis (2025).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79" y="1371600"/>
            <a:ext cx="5463540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6.  One-Dimensional Deep CNN-Based Intelligent Fault Diagnosis Method for Bearings Under Unbalanced Health… (2025).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7.  A Gradient-Penalized Conditional TimeGAN Combined with Multi-Scale Importance-Aware Network… (2025).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8.  Data-driven Predictive Maintenance of Induction Motors using Self-Supervised and Federated Learning… (2026).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9.  Federated Learning and its Role in Predictive Maintenance (2026).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A38"/>
                </a:solidFill>
                <a:latin typeface="Calibri"/>
              </a:rPr>
              <a:t>10.  Agentic Root Cause Analysis through Evidence-Grounded Reasoning (2026).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Dataset: Case Western Reserve University Bearing Data Center — https://engineering.case.edu/bearingdatacenter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TextBox 2"/>
          <p:cNvSpPr/>
          <p:nvPr/>
        </p:nvSpPr>
        <p:spPr>
          <a:xfrm>
            <a:off x="255960" y="502560"/>
            <a:ext cx="1062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f4e79"/>
                </a:solidFill>
                <a:uFillTx/>
                <a:latin typeface="Calibri"/>
              </a:rPr>
              <a:t>Acknowledgement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4"/>
          <p:cNvCxnSpPr/>
          <p:nvPr/>
        </p:nvCxnSpPr>
        <p:spPr>
          <a:xfrm>
            <a:off x="221040" y="1191600"/>
            <a:ext cx="7306200" cy="360"/>
          </a:xfrm>
          <a:prstGeom prst="straightConnector1">
            <a:avLst/>
          </a:prstGeom>
          <a:ln w="28575">
            <a:solidFill>
              <a:srgbClr val="70ad47"/>
            </a:solidFill>
          </a:ln>
        </p:spPr>
      </p:cxnSp>
      <p:sp>
        <p:nvSpPr>
          <p:cNvPr id="21" name="TextBox 3"/>
          <p:cNvSpPr/>
          <p:nvPr/>
        </p:nvSpPr>
        <p:spPr>
          <a:xfrm>
            <a:off x="6093720" y="56880"/>
            <a:ext cx="609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ffffff"/>
                </a:solidFill>
                <a:uFillTx/>
                <a:latin typeface="Calibri"/>
              </a:rPr>
              <a:t>Review III  ·  Groundwork  ·  FleetMind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141732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1572768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1417320"/>
            <a:ext cx="102412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E2A38"/>
                </a:solidFill>
                <a:latin typeface="Calibri"/>
              </a:rPr>
              <a:t>My project guide, [Guide's Name]  </a:t>
            </a:r>
            <a:r>
              <a:rPr sz="1600" b="0" i="0">
                <a:solidFill>
                  <a:srgbClr val="1E2A38"/>
                </a:solidFill>
                <a:latin typeface="Calibri"/>
              </a:rPr>
              <a:t>for direction and feedback through every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42316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2578608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423160"/>
            <a:ext cx="102412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E2A38"/>
                </a:solidFill>
                <a:latin typeface="Calibri"/>
              </a:rPr>
              <a:t>VIT Chennai and LTIMindtree  </a:t>
            </a:r>
            <a:r>
              <a:rPr sz="1600" b="0" i="0">
                <a:solidFill>
                  <a:srgbClr val="1E2A38"/>
                </a:solidFill>
                <a:latin typeface="Calibri"/>
              </a:rPr>
              <a:t>for the Advanced Industry Integrated Program.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2900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429000"/>
            <a:ext cx="102412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E2A38"/>
                </a:solidFill>
                <a:latin typeface="Calibri"/>
              </a:rPr>
              <a:t>The review panel  </a:t>
            </a:r>
            <a:r>
              <a:rPr sz="1600" b="0" i="0">
                <a:solidFill>
                  <a:srgbClr val="1E2A38"/>
                </a:solidFill>
                <a:latin typeface="Calibri"/>
              </a:rPr>
              <a:t>whose comments shaped the design of both projects.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A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4590288"/>
            <a:ext cx="548640" cy="548640"/>
          </a:xfrm>
          <a:prstGeom prst="ellipse">
            <a:avLst/>
          </a:prstGeom>
          <a:solidFill>
            <a:srgbClr val="0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34840"/>
            <a:ext cx="102412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E2A38"/>
                </a:solidFill>
                <a:latin typeface="Calibri"/>
              </a:rPr>
              <a:t>Open data providers  </a:t>
            </a:r>
            <a:r>
              <a:rPr sz="1600" b="0" i="0">
                <a:solidFill>
                  <a:srgbClr val="1E2A38"/>
                </a:solidFill>
                <a:latin typeface="Calibri"/>
              </a:rPr>
              <a:t>The Atticus Project (CUAD) and the CWRU Bearing Data Center.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40680"/>
            <a:ext cx="11201400" cy="5486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440680"/>
            <a:ext cx="11201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Application>LibreOfficeDev/24.8.7.2.0$Android_AARCH64 LibreOffice_project/</Application>
  <AppVersion>15.0000</AppVersion>
  <Words>205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2024-05-13T10:33:11Z</dcterms:created>
  <dc:creator>HARI PRASATH</dc:creator>
  <dc:description/>
  <dc:language>en-US</dc:language>
  <cp:lastModifiedBy>HARI PRASATH</cp:lastModifiedBy>
  <dcterms:modified xsi:type="dcterms:W3CDTF">2025-10-06T09:41:15Z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1_Office Theme:8</vt:lpwstr>
  </property>
  <property fmtid="{D5CDD505-2E9C-101B-9397-08002B2CF9AE}" pid="3" name="ClassificationContentMarkingFooterText">
    <vt:lpwstr>Sensitivity: LNT Construction Internal Use</vt:lpwstr>
  </property>
  <property fmtid="{D5CDD505-2E9C-101B-9397-08002B2CF9AE}" pid="4" name="MSIP_Label_ac52bb50-aef2-4dc8-bb7f-e0da22648362_ActionId">
    <vt:lpwstr>5a5317b9-6049-4f38-9ea6-5786aca62bc4</vt:lpwstr>
  </property>
  <property fmtid="{D5CDD505-2E9C-101B-9397-08002B2CF9AE}" pid="5" name="MSIP_Label_ac52bb50-aef2-4dc8-bb7f-e0da22648362_ContentBits">
    <vt:lpwstr>2</vt:lpwstr>
  </property>
  <property fmtid="{D5CDD505-2E9C-101B-9397-08002B2CF9AE}" pid="6" name="MSIP_Label_ac52bb50-aef2-4dc8-bb7f-e0da22648362_Enabled">
    <vt:lpwstr>true</vt:lpwstr>
  </property>
  <property fmtid="{D5CDD505-2E9C-101B-9397-08002B2CF9AE}" pid="7" name="MSIP_Label_ac52bb50-aef2-4dc8-bb7f-e0da22648362_Method">
    <vt:lpwstr>Standard</vt:lpwstr>
  </property>
  <property fmtid="{D5CDD505-2E9C-101B-9397-08002B2CF9AE}" pid="8" name="MSIP_Label_ac52bb50-aef2-4dc8-bb7f-e0da22648362_Name">
    <vt:lpwstr>ac52bb50-aef2-4dc8-bb7f-e0da22648362</vt:lpwstr>
  </property>
  <property fmtid="{D5CDD505-2E9C-101B-9397-08002B2CF9AE}" pid="9" name="MSIP_Label_ac52bb50-aef2-4dc8-bb7f-e0da22648362_SetDate">
    <vt:lpwstr>2025-08-25T08:11:33Z</vt:lpwstr>
  </property>
  <property fmtid="{D5CDD505-2E9C-101B-9397-08002B2CF9AE}" pid="10" name="MSIP_Label_ac52bb50-aef2-4dc8-bb7f-e0da22648362_SiteId">
    <vt:lpwstr>264b9899-fe1b-430b-9509-2154878d5774</vt:lpwstr>
  </property>
  <property fmtid="{D5CDD505-2E9C-101B-9397-08002B2CF9AE}" pid="11" name="MSIP_Label_ac52bb50-aef2-4dc8-bb7f-e0da22648362_Tag">
    <vt:lpwstr>10, 3, 0, 1</vt:lpwstr>
  </property>
  <property fmtid="{D5CDD505-2E9C-101B-9397-08002B2CF9AE}" pid="12" name="PresentationFormat">
    <vt:lpwstr>Widescreen</vt:lpwstr>
  </property>
  <property fmtid="{D5CDD505-2E9C-101B-9397-08002B2CF9AE}" pid="13" name="Slides">
    <vt:i4>11</vt:i4>
  </property>
</Properties>
</file>